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3a219f4-8786-9610-abc7-683d7912a48a}">
          <p14:sldIdLst>
            <p14:sldId id="256"/>
          </p14:sldIdLst>
        </p14:section>
        <p14:section name="Problem" id="{6bdad33b-d0c6-c650-8677-16cc47c6dadb}">
          <p14:sldIdLst>
            <p14:sldId id="257"/>
          </p14:sldIdLst>
        </p14:section>
        <p14:section name="Solution" id="{2240db4a-e141-eef7-9a7a-bfb66d08b66f}">
          <p14:sldIdLst>
            <p14:sldId id="258"/>
            <p14:sldId id="259"/>
          </p14:sldIdLst>
        </p14:section>
        <p14:section name="Demo" id="{a7cda818-7d09-9a65-db58-72c1f1bf3de9}">
          <p14:sldIdLst>
            <p14:sldId id="260"/>
            <p14:sldId id="261"/>
          </p14:sldIdLst>
        </p14:section>
        <p14:section name="Impact" id="{c1c6474f-3ea0-b20c-8a17-e6b032ef708d}">
          <p14:sldIdLst>
            <p14:sldId id="262"/>
            <p14:sldId id="263"/>
            <p14:sldId id="264"/>
          </p14:sldIdLst>
        </p14:section>
        <p14:section name="Close" id="{e736df2e-7896-3bc1-f3c8-d1e03bb8fb24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2A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2A2A"/>
                </a:solidFill>
                <a:latin typeface="+mn-lt"/>
              </a:rPr>
              <a:t>Median wait by triage colour (minutes)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Today (single line)</c:v>
                </c:pt>
              </c:strCache>
            </c:strRef>
          </c:tx>
          <c:spPr>
            <a:solidFill>
              <a:srgbClr val="A8A2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A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RED</c:v>
                  </c:pt>
                  <c:pt idx="1">
                    <c:v>ORANGE</c:v>
                  </c:pt>
                  <c:pt idx="2">
                    <c:v>YELLOW</c:v>
                  </c:pt>
                  <c:pt idx="3">
                    <c:v>GREEN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65</c:v>
                </c:pt>
                <c:pt idx="2">
                  <c:v>74</c:v>
                </c:pt>
                <c:pt idx="3">
                  <c:v>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Priora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A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RED</c:v>
                  </c:pt>
                  <c:pt idx="1">
                    <c:v>ORANGE</c:v>
                  </c:pt>
                  <c:pt idx="2">
                    <c:v>YELLOW</c:v>
                  </c:pt>
                  <c:pt idx="3">
                    <c:v>GREEN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2A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2A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F2A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In a government OPD in Pakistan, a man with chest pain waits in the same line as someone with a skin rash, carrying a plastic bag of old reports nobody will read. Priora fixes what happens before the queue. I'm Asjad, and I built this solo during AICON.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problems compound, all before the doctor even sees the patient. My sister, a medical student, described these from government hospitals, and reviewed the solution: SATS is the triage scale they use, and routing is the core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steps. Four of them use AI, and the one that decides severity deliberately does not: SATS rules decide, AI only extracts. The patient walks out with a token, colour, department and a QR that replaces the bag of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will ask: what if the AI is wrong? The answer is built in. AI extracts findings with the patient's own words as evidence; deterministic SATS rules assign the colour; the nurse confirms. Every brief line is cited and checkable.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site: priora.asjad.dev. Kiosk: enter AHMED54K7Q, speak the complaint in Roman Urdu. Show ORANGE and Cardiology, then the token. Nurse: enter vitals, watch it turn RED live. Doctor Emergency: he is at the top; open the brief, click a citation. If the network fails, use these screenshots.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moment: from a bag of paper, AI builds a brief focused on today's chest pain. It even found that an echo was advised twice and never done, something no doctor finds in 3 minutes. Every line cites its source; click and you see the highlighted spot on the original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didn't want to just claim impact, so I built a simulator. Same 300 synthetic patients, same morning, only the process changes. RED patients wait 1 minute instead of 65. Redirects drop because AI routing is right 96% of the time. Doctors get almost 4 hours back. And I show the trade-off honestly: green patients wait a bit longer, but all within the SATS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triage, the error that matters is under-triage: calling a serious case mild. On 28 test cases in three languages, it's zero. I also measured model latency: the newest preview models swung up to 37 seconds, so I switched to stable models and kept 100% accuracy at 6 times the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matters beyond the demo: it targets SDG 3 and 10, and it's cheap to adopt: a tablet and a printer, cloud AI, no new hardware. The path is a single-OPD pilot, measure against nurses, then HMIS integration and district-level outbreak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Priora puts the right patient first. Four AI jobs, safe deterministic triage, cited history, measured impact, and it's live right now at priora.asjad.dev. Thank you.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Priora · AICON'26 Build With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age-dot"/>
          <p:cNvSpPr/>
          <p:nvPr/>
        </p:nvSpPr>
        <p:spPr>
          <a:xfrm>
            <a:off x="731520" y="1097280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riage-dot"/>
          <p:cNvSpPr/>
          <p:nvPr/>
        </p:nvSpPr>
        <p:spPr>
          <a:xfrm>
            <a:off x="1115568" y="1097280"/>
            <a:ext cx="256032" cy="25603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riage-dot"/>
          <p:cNvSpPr/>
          <p:nvPr/>
        </p:nvSpPr>
        <p:spPr>
          <a:xfrm>
            <a:off x="1499616" y="1097280"/>
            <a:ext cx="256032" cy="256032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5" name="triage-dot"/>
          <p:cNvSpPr/>
          <p:nvPr/>
        </p:nvSpPr>
        <p:spPr>
          <a:xfrm>
            <a:off x="1883664" y="1097280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Priora</a:t>
            </a:r>
            <a:endParaRPr lang="en-US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7FD1C7"/>
                </a:solidFill>
              </a:rPr>
              <a:t>The right patient, first.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490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1"/>
                </a:solidFill>
              </a:rPr>
              <a:t>AI triage, routing and cited patient history for Pakistan's government hospital OPDs, before anyone joins a queue.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DBA"/>
                </a:solidFill>
              </a:rPr>
              <a:t>AICON'26 · Build With AI · Health Operations · Asjad Ali</a:t>
            </a:r>
            <a:endParaRPr lang="en-US" sz="1400" dirty="0"/>
          </a:p>
        </p:txBody>
      </p:sp>
      <p:pic>
        <p:nvPicPr>
          <p:cNvPr id="10" name="token-slip" descr="/Users/asjad/Documents/GitHub/AICON-BUILD-WITH-AI/_planning/deck/shots/toke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502920"/>
            <a:ext cx="2926080" cy="585216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 a government OPD, chest pain waits behind a rash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554480"/>
            <a:ext cx="3474720" cy="35661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circle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207203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Wrong door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3832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Patients don't know which OPD treats their symptoms. They queue in the wrong line, get redirected, and queue again.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297680" y="1554480"/>
            <a:ext cx="3474720" cy="35661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circle"/>
          <p:cNvSpPr/>
          <p:nvPr/>
        </p:nvSpPr>
        <p:spPr>
          <a:xfrm>
            <a:off x="4617720" y="18745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230" y="207203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Flat queues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3832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First come, first served. No severity sorting before the queue, so critical patients wait like everyone else.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046720" y="1554480"/>
            <a:ext cx="3474720" cy="35661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circle"/>
          <p:cNvSpPr/>
          <p:nvPr/>
        </p:nvSpPr>
        <p:spPr>
          <a:xfrm>
            <a:off x="8366760" y="18745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270" y="207203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6676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 bag of files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33832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Years of paper reports. With 3–5 minutes per patient, doctors can't read them: the old ECG and the allergy get missed.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Validated with a medical student: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severity-based routing is the core value, SATS is the triage scale in use, and an AI history brief helps route, with a proper checkup always following.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Priora sorts patients before they join a queue</a:t>
            </a:r>
            <a:endParaRPr lang="en-US" sz="3400" dirty="0"/>
          </a:p>
        </p:txBody>
      </p:sp>
      <p:sp>
        <p:nvSpPr>
          <p:cNvPr id="3" name="icon-circle"/>
          <p:cNvSpPr/>
          <p:nvPr/>
        </p:nvSpPr>
        <p:spPr>
          <a:xfrm>
            <a:off x="1097280" y="160020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736" y="1819656"/>
            <a:ext cx="475488" cy="475488"/>
          </a:xfrm>
          <a:prstGeom prst="rect">
            <a:avLst/>
          </a:prstGeom>
        </p:spPr>
      </p:pic>
      <p:pic>
        <p:nvPicPr>
          <p:cNvPr id="5" name="flow-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874520"/>
            <a:ext cx="365760" cy="3657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AI #1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Speak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35204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Voice or text in Urdu, Roman Urdu or English → structured findings, quoting the patient</a:t>
            </a:r>
            <a:endParaRPr lang="en-US" sz="1400" dirty="0"/>
          </a:p>
        </p:txBody>
      </p:sp>
      <p:sp>
        <p:nvSpPr>
          <p:cNvPr id="9" name="icon-circle"/>
          <p:cNvSpPr/>
          <p:nvPr/>
        </p:nvSpPr>
        <p:spPr>
          <a:xfrm>
            <a:off x="3383280" y="1600200"/>
            <a:ext cx="914400" cy="9144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736" y="1819656"/>
            <a:ext cx="475488" cy="475488"/>
          </a:xfrm>
          <a:prstGeom prst="rect">
            <a:avLst/>
          </a:prstGeom>
        </p:spPr>
      </p:pic>
      <p:pic>
        <p:nvPicPr>
          <p:cNvPr id="11" name="flow-arrow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87452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283464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SATS rules</a:t>
            </a:r>
            <a:endParaRPr lang="en-US" sz="1200" dirty="0"/>
          </a:p>
        </p:txBody>
      </p:sp>
      <p:sp>
        <p:nvSpPr>
          <p:cNvPr id="13" name="Text 7"/>
          <p:cNvSpPr txBox="1"/>
          <p:nvPr/>
        </p:nvSpPr>
        <p:spPr>
          <a:xfrm>
            <a:off x="283464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Triage</a:t>
            </a:r>
            <a:endParaRPr lang="en-US" sz="2200" dirty="0"/>
          </a:p>
        </p:txBody>
      </p:sp>
      <p:sp>
        <p:nvSpPr>
          <p:cNvPr id="14" name="Text 8"/>
          <p:cNvSpPr txBox="1"/>
          <p:nvPr/>
        </p:nvSpPr>
        <p:spPr>
          <a:xfrm>
            <a:off x="2880360" y="35204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Deterministic South African Triage Scale. Nurse adds vitals and confirms</a:t>
            </a:r>
            <a:endParaRPr lang="en-US" sz="1400" dirty="0"/>
          </a:p>
        </p:txBody>
      </p:sp>
      <p:sp>
        <p:nvSpPr>
          <p:cNvPr id="15" name="icon-circle"/>
          <p:cNvSpPr/>
          <p:nvPr/>
        </p:nvSpPr>
        <p:spPr>
          <a:xfrm>
            <a:off x="5669280" y="160020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8736" y="1819656"/>
            <a:ext cx="475488" cy="475488"/>
          </a:xfrm>
          <a:prstGeom prst="rect">
            <a:avLst/>
          </a:prstGeom>
        </p:spPr>
      </p:pic>
      <p:pic>
        <p:nvPicPr>
          <p:cNvPr id="17" name="flow-arrow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1874520"/>
            <a:ext cx="365760" cy="36576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512064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AI #2</a:t>
            </a:r>
            <a:endParaRPr lang="en-US" sz="1200" dirty="0"/>
          </a:p>
        </p:txBody>
      </p:sp>
      <p:sp>
        <p:nvSpPr>
          <p:cNvPr id="19" name="Text 11"/>
          <p:cNvSpPr txBox="1"/>
          <p:nvPr/>
        </p:nvSpPr>
        <p:spPr>
          <a:xfrm>
            <a:off x="512064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Route</a:t>
            </a:r>
            <a:endParaRPr lang="en-US" sz="2200" dirty="0"/>
          </a:p>
        </p:txBody>
      </p:sp>
      <p:sp>
        <p:nvSpPr>
          <p:cNvPr id="20" name="Text 12"/>
          <p:cNvSpPr txBox="1"/>
          <p:nvPr/>
        </p:nvSpPr>
        <p:spPr>
          <a:xfrm>
            <a:off x="5166360" y="35204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Findings + known history → the right OPD department</a:t>
            </a:r>
            <a:endParaRPr lang="en-US" sz="1400" dirty="0"/>
          </a:p>
        </p:txBody>
      </p:sp>
      <p:sp>
        <p:nvSpPr>
          <p:cNvPr id="21" name="icon-circle"/>
          <p:cNvSpPr/>
          <p:nvPr/>
        </p:nvSpPr>
        <p:spPr>
          <a:xfrm>
            <a:off x="7955280" y="160020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4736" y="1819656"/>
            <a:ext cx="475488" cy="475488"/>
          </a:xfrm>
          <a:prstGeom prst="rect">
            <a:avLst/>
          </a:prstGeom>
        </p:spPr>
      </p:pic>
      <p:pic>
        <p:nvPicPr>
          <p:cNvPr id="23" name="flow-arrow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1160" y="1874520"/>
            <a:ext cx="365760" cy="36576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740664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AI #3</a:t>
            </a:r>
            <a:endParaRPr lang="en-US" sz="1200" dirty="0"/>
          </a:p>
        </p:txBody>
      </p:sp>
      <p:sp>
        <p:nvSpPr>
          <p:cNvPr id="25" name="Text 15"/>
          <p:cNvSpPr txBox="1"/>
          <p:nvPr/>
        </p:nvSpPr>
        <p:spPr>
          <a:xfrm>
            <a:off x="740664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Read files</a:t>
            </a:r>
            <a:endParaRPr lang="en-US" sz="2200" dirty="0"/>
          </a:p>
        </p:txBody>
      </p:sp>
      <p:sp>
        <p:nvSpPr>
          <p:cNvPr id="26" name="Text 16"/>
          <p:cNvSpPr txBox="1"/>
          <p:nvPr/>
        </p:nvSpPr>
        <p:spPr>
          <a:xfrm>
            <a:off x="7452360" y="35204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Photos of old reports → facts with flags and their exact location on the page</a:t>
            </a:r>
            <a:endParaRPr lang="en-US" sz="1400" dirty="0"/>
          </a:p>
        </p:txBody>
      </p:sp>
      <p:sp>
        <p:nvSpPr>
          <p:cNvPr id="27" name="icon-circle"/>
          <p:cNvSpPr/>
          <p:nvPr/>
        </p:nvSpPr>
        <p:spPr>
          <a:xfrm>
            <a:off x="10241280" y="160020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60736" y="1819656"/>
            <a:ext cx="475488" cy="475488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969264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AI #4</a:t>
            </a:r>
            <a:endParaRPr lang="en-US" sz="1200" dirty="0"/>
          </a:p>
        </p:txBody>
      </p:sp>
      <p:sp>
        <p:nvSpPr>
          <p:cNvPr id="30" name="Text 19"/>
          <p:cNvSpPr txBox="1"/>
          <p:nvPr/>
        </p:nvSpPr>
        <p:spPr>
          <a:xfrm>
            <a:off x="969264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Brief</a:t>
            </a:r>
            <a:endParaRPr lang="en-US" sz="2200" dirty="0"/>
          </a:p>
        </p:txBody>
      </p:sp>
      <p:sp>
        <p:nvSpPr>
          <p:cNvPr id="31" name="Text 20"/>
          <p:cNvSpPr txBox="1"/>
          <p:nvPr/>
        </p:nvSpPr>
        <p:spPr>
          <a:xfrm>
            <a:off x="9738360" y="35204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One-page brief for today's complaint. Every line cites its source</a:t>
            </a:r>
            <a:endParaRPr lang="en-US" sz="1400" dirty="0"/>
          </a:p>
        </p:txBody>
      </p:sp>
      <p:sp>
        <p:nvSpPr>
          <p:cNvPr id="32" name="card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22"/>
          <p:cNvSpPr txBox="1"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Output: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token slip with colour, department and a QR health passport → severity-sorted queues per department → a cited brief on the doctor's screen.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AI extracts, rules decide, clinicians confirm</a:t>
            </a:r>
            <a:endParaRPr lang="en-US" sz="3400" dirty="0"/>
          </a:p>
        </p:txBody>
      </p:sp>
      <p:pic>
        <p:nvPicPr>
          <p:cNvPr id="3" name="why-red-screenshot" descr="/Users/asjad/Documents/GitHub/AICON-BUILD-WITH-AI/_planning/deck/shots/whyred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035040" cy="20116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548640" y="36576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Every triage shows its reason trail: which vital added which points, and which SATS sign set the floor.</a:t>
            </a:r>
            <a:endParaRPr lang="en-US" sz="1400" dirty="0"/>
          </a:p>
        </p:txBody>
      </p:sp>
      <p:sp>
        <p:nvSpPr>
          <p:cNvPr id="5" name="icon-circle"/>
          <p:cNvSpPr/>
          <p:nvPr/>
        </p:nvSpPr>
        <p:spPr>
          <a:xfrm>
            <a:off x="7040880" y="15087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2" y="1673352"/>
            <a:ext cx="356616" cy="35661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90956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Deterministic triage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909560" y="1828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colour comes from SATS rules, never from the LLM. Any emergency sign forces RED.</a:t>
            </a:r>
            <a:endParaRPr lang="en-US" sz="1400" dirty="0"/>
          </a:p>
        </p:txBody>
      </p:sp>
      <p:sp>
        <p:nvSpPr>
          <p:cNvPr id="9" name="icon-circle"/>
          <p:cNvSpPr/>
          <p:nvPr/>
        </p:nvSpPr>
        <p:spPr>
          <a:xfrm>
            <a:off x="7040880" y="26517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2816352"/>
            <a:ext cx="356616" cy="35661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90956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Human in the loop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7909560" y="2971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nurse confirms every colour; overrides need a reason and are logged.</a:t>
            </a:r>
            <a:endParaRPr lang="en-US" sz="1400" dirty="0"/>
          </a:p>
        </p:txBody>
      </p:sp>
      <p:sp>
        <p:nvSpPr>
          <p:cNvPr id="13" name="icon-circle"/>
          <p:cNvSpPr/>
          <p:nvPr/>
        </p:nvSpPr>
        <p:spPr>
          <a:xfrm>
            <a:off x="7040880" y="37947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2" y="3959352"/>
            <a:ext cx="356616" cy="35661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909560" y="3749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Cited, verifiable brief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7909560" y="4114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Lines without a valid source are removed. One click opens the original scan.</a:t>
            </a:r>
            <a:endParaRPr lang="en-US" sz="1400" dirty="0"/>
          </a:p>
        </p:txBody>
      </p:sp>
      <p:sp>
        <p:nvSpPr>
          <p:cNvPr id="17" name="icon-circle"/>
          <p:cNvSpPr/>
          <p:nvPr/>
        </p:nvSpPr>
        <p:spPr>
          <a:xfrm>
            <a:off x="7040880" y="49377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5102352"/>
            <a:ext cx="356616" cy="35661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909560" y="4892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Escalate under doubt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7909560" y="5257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Low-confidence extraction or a child → never GREEN; flagged for review.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5715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Gemini on Google Cloud Vertex AI: enterprise data controls, prompts not used for training. Decision support only.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Live demo: Ahmed, 54, chest pain</a:t>
            </a:r>
            <a:endParaRPr lang="en-US" sz="3400" dirty="0"/>
          </a:p>
        </p:txBody>
      </p:sp>
      <p:pic>
        <p:nvPicPr>
          <p:cNvPr id="3" name="token-screenshot" descr="/Users/asjad/Documents/GitHub/AICON-BUILD-WITH-AI/_planning/deck/shots/toke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2377440" cy="47548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pic>
        <p:nvPicPr>
          <p:cNvPr id="4" name="doctor-screenshot" descr="/Users/asjad/Documents/GitHub/AICON-BUILD-WITH-AI/_planning/deck/shots/doctor-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417320"/>
            <a:ext cx="8321040" cy="36118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step-dot"/>
          <p:cNvSpPr/>
          <p:nvPr/>
        </p:nvSpPr>
        <p:spPr>
          <a:xfrm>
            <a:off x="3291840" y="52578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3291840" y="5257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3840480" y="51663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Kiosk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Passport code → he says “seenay mein dard hai…” → ORANGE, Cardiology (history used)</a:t>
            </a:r>
            <a:endParaRPr lang="en-US" sz="1300" dirty="0"/>
          </a:p>
        </p:txBody>
      </p:sp>
      <p:sp>
        <p:nvSpPr>
          <p:cNvPr id="8" name="step-dot"/>
          <p:cNvSpPr/>
          <p:nvPr/>
        </p:nvSpPr>
        <p:spPr>
          <a:xfrm>
            <a:off x="6126480" y="52578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126480" y="5257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675120" y="51663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Nurse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HR 130, RR 30, SBP 95 → TEWS 7 → RED, moved to Emergency</a:t>
            </a:r>
            <a:endParaRPr lang="en-US" sz="1300" dirty="0"/>
          </a:p>
        </p:txBody>
      </p:sp>
      <p:sp>
        <p:nvSpPr>
          <p:cNvPr id="11" name="step-dot"/>
          <p:cNvSpPr/>
          <p:nvPr/>
        </p:nvSpPr>
        <p:spPr>
          <a:xfrm>
            <a:off x="8961120" y="52578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961120" y="5257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9509760" y="51663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Doctor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Top of the queue, with a cited brief from 5 old reports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From a bag of files to a cited one-page brief</a:t>
            </a:r>
            <a:endParaRPr lang="en-US" sz="3400" dirty="0"/>
          </a:p>
        </p:txBody>
      </p:sp>
      <p:pic>
        <p:nvPicPr>
          <p:cNvPr id="3" name="brief-screenshot" descr="/Users/asjad/Documents/GitHub/AICON-BUILD-WITH-AI/_planning/deck/shots/brief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4983480" cy="47548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card"/>
          <p:cNvSpPr/>
          <p:nvPr/>
        </p:nvSpPr>
        <p:spPr>
          <a:xfrm>
            <a:off x="5943600" y="1463040"/>
            <a:ext cx="56692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7220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5 old reports → ~40 facts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19202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Lab reports, a handwritten prescription, an ECG and a discharge summary, read by AI with exact locations on each page.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5943600" y="2651760"/>
            <a:ext cx="56692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72200" y="2743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What matters for today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31089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Chest pain → the 2021 ECG with T-wave inversion V4–V6 comes first, then risk factors and cardiac medications.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5943600" y="3840480"/>
            <a:ext cx="56692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3931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Trends a busy doctor misses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42976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HbA1c 7.1% → 8.4%, fasting sugar 145 → 178, metformin dose doubled.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5943600" y="5029200"/>
            <a:ext cx="5669280" cy="1051560"/>
          </a:xfrm>
          <a:prstGeom prst="roundRect">
            <a:avLst>
              <a:gd name="adj" fmla="val 10435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72200" y="5120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The gap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54864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 echocardiogram was advised in 2021 and again in 2024. There is no result on file.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Critical patients seen in minutes, not hours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65 → 1 min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671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RED median wait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14% → 100%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387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ORANGE seen within the 10-min target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60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48 → 10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9103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wrong-line redirects per morning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4160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3.8 h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49103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doctor time saved on paper files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035040" y="1325880"/>
          <a:ext cx="5577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Simulated OPD morning: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300 patients, 4 hours, 4 doctors, same synthetic patients in both runs. Trade-off: GREEN waits longer (68 → 97 min) but stays within its 4-hour target.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Tested before trusted: zero under-triage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100%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957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triage colour accuracy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3383280" y="146304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1188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0%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23957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under-triage: a serious case marked less urgent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217920" y="146304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96.4%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3957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exact department · 100% clinically acceptable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9052560" y="146304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8116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6 s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23957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median AI time per patient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48640" y="3611880"/>
            <a:ext cx="548640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test set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16052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28 synthetic patient descriptions in English, Roman Urdu and Urdu script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Expected colour and department fixed before running, never edited after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Runs the real pipeline: AI extraction → SATS rules → AI routing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Reproducible: npm run eval · results on /eval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6263640" y="3611880"/>
            <a:ext cx="534924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Engineering for a live hospital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1605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Benchmarked 6 model setups: newest previews swung 2–37 s, so the real-time path uses stable Gemini 2.5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100% accuracy at ~6× lower latency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Timeouts + automatic fallback model; 48 unit tests on triage, queue and simulator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Built for adoption in Pakistan's public hospitals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34747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circle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06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SDG 3 · Good health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175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Critical patients treated sooner; missed history caught before the consult.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297680" y="1463040"/>
            <a:ext cx="34747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circle"/>
          <p:cNvSpPr/>
          <p:nvPr/>
        </p:nvSpPr>
        <p:spPr>
          <a:xfrm>
            <a:off x="457200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565" y="191292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2606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SDG 10 · Fairer access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30175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Urdu voice for low-literacy patients; a fairness rule so routine cases aren't starved.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046720" y="1463040"/>
            <a:ext cx="34747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circle"/>
          <p:cNvSpPr/>
          <p:nvPr/>
        </p:nvSpPr>
        <p:spPr>
          <a:xfrm>
            <a:off x="832104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605" y="1912925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606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Industry value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30175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Runs on a tablet and a printer: no new hardware. Frees doctor hours and cuts redirects.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Adoption path</a:t>
            </a:r>
            <a:endParaRPr lang="en-US" sz="1800" dirty="0"/>
          </a:p>
        </p:txBody>
      </p:sp>
      <p:sp>
        <p:nvSpPr>
          <p:cNvPr id="19" name="path-dot"/>
          <p:cNvSpPr/>
          <p:nvPr/>
        </p:nvSpPr>
        <p:spPr>
          <a:xfrm>
            <a:off x="548640" y="47548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path-line"/>
          <p:cNvSpPr/>
          <p:nvPr/>
        </p:nvSpPr>
        <p:spPr>
          <a:xfrm>
            <a:off x="960120" y="4937760"/>
            <a:ext cx="2377440" cy="0"/>
          </a:xfrm>
          <a:prstGeom prst="line">
            <a:avLst/>
          </a:prstGeom>
          <a:noFill/>
          <a:ln w="19050">
            <a:solidFill>
              <a:srgbClr val="A8C9C5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48640" y="5212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Pilot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577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district hospital OPD: kiosk + nurse station</a:t>
            </a:r>
            <a:endParaRPr lang="en-US" sz="1300" dirty="0"/>
          </a:p>
        </p:txBody>
      </p:sp>
      <p:sp>
        <p:nvSpPr>
          <p:cNvPr id="23" name="path-dot"/>
          <p:cNvSpPr/>
          <p:nvPr/>
        </p:nvSpPr>
        <p:spPr>
          <a:xfrm>
            <a:off x="3383280" y="47548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path-line"/>
          <p:cNvSpPr/>
          <p:nvPr/>
        </p:nvSpPr>
        <p:spPr>
          <a:xfrm>
            <a:off x="3794760" y="4937760"/>
            <a:ext cx="2377440" cy="0"/>
          </a:xfrm>
          <a:prstGeom prst="line">
            <a:avLst/>
          </a:prstGeom>
          <a:noFill/>
          <a:ln w="19050">
            <a:solidFill>
              <a:srgbClr val="A8C9C5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3383280" y="5212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Validate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3383280" y="5577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Compare waits and triage agreement with nurses</a:t>
            </a:r>
            <a:endParaRPr lang="en-US" sz="1300" dirty="0"/>
          </a:p>
        </p:txBody>
      </p:sp>
      <p:sp>
        <p:nvSpPr>
          <p:cNvPr id="27" name="path-dot"/>
          <p:cNvSpPr/>
          <p:nvPr/>
        </p:nvSpPr>
        <p:spPr>
          <a:xfrm>
            <a:off x="6217920" y="47548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path-line"/>
          <p:cNvSpPr/>
          <p:nvPr/>
        </p:nvSpPr>
        <p:spPr>
          <a:xfrm>
            <a:off x="6629400" y="4937760"/>
            <a:ext cx="2377440" cy="0"/>
          </a:xfrm>
          <a:prstGeom prst="line">
            <a:avLst/>
          </a:prstGeom>
          <a:noFill/>
          <a:ln w="19050">
            <a:solidFill>
              <a:srgbClr val="A8C9C5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217920" y="5212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Scale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6217920" y="5577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Integrate with hospital HMIS; SMS token updates</a:t>
            </a:r>
            <a:endParaRPr lang="en-US" sz="1300" dirty="0"/>
          </a:p>
        </p:txBody>
      </p:sp>
      <p:sp>
        <p:nvSpPr>
          <p:cNvPr id="31" name="path-dot"/>
          <p:cNvSpPr/>
          <p:nvPr/>
        </p:nvSpPr>
        <p:spPr>
          <a:xfrm>
            <a:off x="9052560" y="47548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9052560" y="5212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District view</a:t>
            </a:r>
            <a:endParaRPr lang="en-US" sz="1600" dirty="0"/>
          </a:p>
        </p:txBody>
      </p:sp>
      <p:sp>
        <p:nvSpPr>
          <p:cNvPr id="33" name="Text 28"/>
          <p:cNvSpPr txBox="1"/>
          <p:nvPr/>
        </p:nvSpPr>
        <p:spPr>
          <a:xfrm>
            <a:off x="9052560" y="5577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Aggregate symptoms for outbreak signals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age-dot"/>
          <p:cNvSpPr/>
          <p:nvPr/>
        </p:nvSpPr>
        <p:spPr>
          <a:xfrm>
            <a:off x="731520" y="1188720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riage-dot"/>
          <p:cNvSpPr/>
          <p:nvPr/>
        </p:nvSpPr>
        <p:spPr>
          <a:xfrm>
            <a:off x="1115568" y="1188720"/>
            <a:ext cx="256032" cy="25603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riage-dot"/>
          <p:cNvSpPr/>
          <p:nvPr/>
        </p:nvSpPr>
        <p:spPr>
          <a:xfrm>
            <a:off x="1499616" y="1188720"/>
            <a:ext cx="256032" cy="256032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5" name="triage-dot"/>
          <p:cNvSpPr/>
          <p:nvPr/>
        </p:nvSpPr>
        <p:spPr>
          <a:xfrm>
            <a:off x="1883664" y="1188720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The right patient, first.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7180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CFE3E1"/>
                </a:solidFill>
              </a:rPr>
              <a:t>4 AI components, deterministic SATS triage, human confirmation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CFE3E1"/>
                </a:solidFill>
              </a:rPr>
              <a:t>Cited history brief with one-click source verification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CFE3E1"/>
                </a:solidFill>
              </a:rPr>
              <a:t>Measured impact and evaluated accuracy, 0% under-triage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CFE3E1"/>
                </a:solidFill>
              </a:rPr>
              <a:t>Built solo at AICON'26, live and deployed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394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D1C7"/>
                </a:solidFill>
              </a:rPr>
              <a:t>priora.asjad.dev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DBA"/>
                </a:solidFill>
              </a:rPr>
              <a:t>github.com/asjad2401/aicon</a:t>
            </a:r>
            <a:endParaRPr lang="en-US" sz="1400" dirty="0"/>
          </a:p>
        </p:txBody>
      </p:sp>
      <p:sp>
        <p:nvSpPr>
          <p:cNvPr id="10" name="qr-card"/>
          <p:cNvSpPr/>
          <p:nvPr/>
        </p:nvSpPr>
        <p:spPr>
          <a:xfrm>
            <a:off x="8503920" y="1463040"/>
            <a:ext cx="3017520" cy="356616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qr-cod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691640"/>
            <a:ext cx="2560320" cy="25603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503920" y="4343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Try it now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ora">
  <a:themeElements>
    <a:clrScheme name="Priora">
      <a:dk1>
        <a:srgbClr val="0F2A2A"/>
      </a:dk1>
      <a:lt1>
        <a:srgbClr val="FFFFFF"/>
      </a:lt1>
      <a:dk2>
        <a:srgbClr val="0F766E"/>
      </a:dk2>
      <a:lt2>
        <a:srgbClr val="EEF6F5"/>
      </a:lt2>
      <a:accent1>
        <a:srgbClr val="0F766E"/>
      </a:accent1>
      <a:accent2>
        <a:srgbClr val="EA580C"/>
      </a:accent2>
      <a:accent3>
        <a:srgbClr val="DC2626"/>
      </a:accent3>
      <a:accent4>
        <a:srgbClr val="CA8A04"/>
      </a:accent4>
      <a:accent5>
        <a:srgbClr val="16A34A"/>
      </a:accent5>
      <a:accent6>
        <a:srgbClr val="64748B"/>
      </a:accent6>
      <a:hlink>
        <a:srgbClr val="0F766E"/>
      </a:hlink>
      <a:folHlink>
        <a:srgbClr val="0F766E"/>
      </a:folHlink>
    </a:clrScheme>
    <a:fontScheme name="Prior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AICON'26 Build With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Priora: AI triage, routing and cited history for government OPDs</dc:title>
  <dc:subject>PptxGenJS Presentation</dc:subject>
  <dc:creator>Asjad Ali</dc:creator>
  <cp:lastModifiedBy>Asjad Ali</cp:lastModifiedBy>
  <cp:revision>1</cp:revision>
  <dcterms:created xsi:type="dcterms:W3CDTF">2026-10-09T20:08:45Z</dcterms:created>
  <dcterms:modified xsi:type="dcterms:W3CDTF">2026-10-09T20:08:45Z</dcterms:modified>
</cp:coreProperties>
</file>